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213D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4213D"/>
                </a:solidFill>
                <a:latin typeface="Calibri"/>
              </a:rPr>
              <a:t>Sample BLEU Evaluation on 10 Unseen Test Images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BLEU</c:v>
                </c:pt>
              </c:strCache>
            </c:strRef>
          </c:tx>
          <c:spPr>
            <a:solidFill>
              <a:srgbClr val="3F51B5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1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BLEU-1</c:v>
                  </c:pt>
                  <c:pt idx="1">
                    <c:v>BLEU-2</c:v>
                  </c:pt>
                  <c:pt idx="2">
                    <c:v>BLEU-3</c:v>
                  </c:pt>
                  <c:pt idx="3">
                    <c:v>BLEU-4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0.6265</c:v>
                </c:pt>
                <c:pt idx="1">
                  <c:v>0.3826</c:v>
                </c:pt>
                <c:pt idx="2">
                  <c:v>0.2338</c:v>
                </c:pt>
                <c:pt idx="3">
                  <c:v>0.1675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100" u="none">
                  <a:solidFill>
                    <a:srgbClr val="14213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B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6350" cap="flat">
              <a:solidFill>
                <a:srgbClr val="DDE3F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B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4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Image Caption Generator Using CNN-LSTM with Attention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Case Study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77440"/>
            <a:ext cx="2438400" cy="731520"/>
          </a:xfrm>
          <a:prstGeom prst="roundRect">
            <a:avLst>
              <a:gd name="adj" fmla="val 12500"/>
            </a:avLst>
          </a:prstGeom>
          <a:solidFill>
            <a:srgbClr val="3F51B5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904744" y="2743200"/>
            <a:ext cx="438912" cy="0"/>
          </a:xfrm>
          <a:prstGeom prst="line">
            <a:avLst/>
          </a:prstGeom>
          <a:noFill/>
          <a:ln w="25400">
            <a:solidFill>
              <a:srgbClr val="525B78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3352800" y="2377440"/>
            <a:ext cx="2438400" cy="731520"/>
          </a:xfrm>
          <a:prstGeom prst="roundRect">
            <a:avLst>
              <a:gd name="adj" fmla="val 12500"/>
            </a:avLst>
          </a:prstGeom>
          <a:solidFill>
            <a:srgbClr val="00A6A6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+ ATTENTION + LSTM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800344" y="2743200"/>
            <a:ext cx="438912" cy="0"/>
          </a:xfrm>
          <a:prstGeom prst="line">
            <a:avLst/>
          </a:prstGeom>
          <a:noFill/>
          <a:ln w="25400">
            <a:solidFill>
              <a:srgbClr val="525B78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6248400" y="2377440"/>
            <a:ext cx="2438400" cy="731520"/>
          </a:xfrm>
          <a:prstGeom prst="roundRect">
            <a:avLst>
              <a:gd name="adj" fmla="val 12500"/>
            </a:avLst>
          </a:prstGeom>
          <a:solidFill>
            <a:srgbClr val="5C6BC0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"GENERATED CAPTION"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4290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5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160124748094 — A. Hemanth   |   160124748121 — M. Dhanush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5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(Artificial Intelligence and Machine Learning)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5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Chaitanya Bharathi Institute of Technology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5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Year: 2026–27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Motivation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2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77640" cy="2148840"/>
          </a:xfrm>
          <a:prstGeom prst="roundRect">
            <a:avLst>
              <a:gd name="adj" fmla="val 4255"/>
            </a:avLst>
          </a:prstGeom>
          <a:solidFill>
            <a:srgbClr val="EEF2FF"/>
          </a:solidFill>
          <a:ln w="12700">
            <a:solidFill>
              <a:srgbClr val="D5DC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07899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CHALLENGE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379476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hold rich visual information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objects ≠ describing a scene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gives labels, not sentences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Captioning = vision + language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3977640" cy="2148840"/>
          </a:xfrm>
          <a:prstGeom prst="roundRect">
            <a:avLst>
              <a:gd name="adj" fmla="val 4255"/>
            </a:avLst>
          </a:prstGeom>
          <a:solidFill>
            <a:srgbClr val="EEF2FF"/>
          </a:solidFill>
          <a:ln w="12700">
            <a:solidFill>
              <a:srgbClr val="D5DC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07899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IDEA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325880"/>
            <a:ext cx="379476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extracts visual features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focuses on relevant regions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generates caption word by word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full natural-language sentence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474720"/>
            <a:ext cx="1234440" cy="731520"/>
          </a:xfrm>
          <a:prstGeom prst="roundRect">
            <a:avLst>
              <a:gd name="adj" fmla="val 12500"/>
            </a:avLst>
          </a:prstGeom>
          <a:solidFill>
            <a:srgbClr val="3F51B5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IMAGE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700784" y="3840480"/>
            <a:ext cx="146304" cy="0"/>
          </a:xfrm>
          <a:prstGeom prst="line">
            <a:avLst/>
          </a:prstGeom>
          <a:noFill/>
          <a:ln w="25400">
            <a:solidFill>
              <a:srgbClr val="525B78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1856232" y="3474720"/>
            <a:ext cx="1234440" cy="731520"/>
          </a:xfrm>
          <a:prstGeom prst="roundRect">
            <a:avLst>
              <a:gd name="adj" fmla="val 12500"/>
            </a:avLst>
          </a:prstGeom>
          <a:solidFill>
            <a:srgbClr val="00A6A6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UNDERSTANDING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99816" y="3840480"/>
            <a:ext cx="146304" cy="0"/>
          </a:xfrm>
          <a:prstGeom prst="line">
            <a:avLst/>
          </a:prstGeom>
          <a:noFill/>
          <a:ln w="25400">
            <a:solidFill>
              <a:srgbClr val="525B78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3255264" y="3474720"/>
            <a:ext cx="1234440" cy="731520"/>
          </a:xfrm>
          <a:prstGeom prst="roundRect">
            <a:avLst>
              <a:gd name="adj" fmla="val 12500"/>
            </a:avLst>
          </a:prstGeom>
          <a:solidFill>
            <a:srgbClr val="3F51B5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98848" y="3840480"/>
            <a:ext cx="146304" cy="0"/>
          </a:xfrm>
          <a:prstGeom prst="line">
            <a:avLst/>
          </a:prstGeom>
          <a:noFill/>
          <a:ln w="25400">
            <a:solidFill>
              <a:srgbClr val="525B78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4654296" y="3474720"/>
            <a:ext cx="1234440" cy="731520"/>
          </a:xfrm>
          <a:prstGeom prst="roundRect">
            <a:avLst>
              <a:gd name="adj" fmla="val 12500"/>
            </a:avLst>
          </a:prstGeom>
          <a:solidFill>
            <a:srgbClr val="00A6A6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97880" y="3840480"/>
            <a:ext cx="146304" cy="0"/>
          </a:xfrm>
          <a:prstGeom prst="line">
            <a:avLst/>
          </a:prstGeom>
          <a:noFill/>
          <a:ln w="25400">
            <a:solidFill>
              <a:srgbClr val="525B78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6053328" y="3474720"/>
            <a:ext cx="1234440" cy="731520"/>
          </a:xfrm>
          <a:prstGeom prst="roundRect">
            <a:avLst>
              <a:gd name="adj" fmla="val 12500"/>
            </a:avLst>
          </a:prstGeom>
          <a:solidFill>
            <a:srgbClr val="3F51B5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GENERATION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96912" y="3840480"/>
            <a:ext cx="146304" cy="0"/>
          </a:xfrm>
          <a:prstGeom prst="line">
            <a:avLst/>
          </a:prstGeom>
          <a:noFill/>
          <a:ln w="25400">
            <a:solidFill>
              <a:srgbClr val="525B78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7452360" y="3474720"/>
            <a:ext cx="1234440" cy="731520"/>
          </a:xfrm>
          <a:prstGeom prst="roundRect">
            <a:avLst>
              <a:gd name="adj" fmla="val 12500"/>
            </a:avLst>
          </a:prstGeom>
          <a:solidFill>
            <a:srgbClr val="00A6A6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overview (illustrative): image → words → sentence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&amp; System Overview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2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640080" cy="731520"/>
          </a:xfrm>
          <a:prstGeom prst="roundRect">
            <a:avLst>
              <a:gd name="adj" fmla="val 14286"/>
            </a:avLst>
          </a:prstGeom>
          <a:solidFill>
            <a:srgbClr val="3F51B5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051560"/>
            <a:ext cx="3520440" cy="731520"/>
          </a:xfrm>
          <a:prstGeom prst="roundRect">
            <a:avLst>
              <a:gd name="adj" fmla="val 12500"/>
            </a:avLst>
          </a:prstGeom>
          <a:solidFill>
            <a:srgbClr val="EEF2FF"/>
          </a:solidFill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meaningful visual features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709160" y="1051560"/>
            <a:ext cx="640080" cy="731520"/>
          </a:xfrm>
          <a:prstGeom prst="roundRect">
            <a:avLst>
              <a:gd name="adj" fmla="val 14286"/>
            </a:avLst>
          </a:prstGeom>
          <a:solidFill>
            <a:srgbClr val="00A6A6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394960" y="1051560"/>
            <a:ext cx="3520440" cy="731520"/>
          </a:xfrm>
          <a:prstGeom prst="roundRect">
            <a:avLst>
              <a:gd name="adj" fmla="val 12500"/>
            </a:avLst>
          </a:prstGeom>
          <a:solidFill>
            <a:srgbClr val="EEF2FF"/>
          </a:solidFill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image-to-language relationships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920240"/>
            <a:ext cx="640080" cy="731520"/>
          </a:xfrm>
          <a:prstGeom prst="roundRect">
            <a:avLst>
              <a:gd name="adj" fmla="val 14286"/>
            </a:avLst>
          </a:prstGeom>
          <a:solidFill>
            <a:srgbClr val="3F51B5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1920240"/>
            <a:ext cx="3520440" cy="731520"/>
          </a:xfrm>
          <a:prstGeom prst="roundRect">
            <a:avLst>
              <a:gd name="adj" fmla="val 12500"/>
            </a:avLst>
          </a:prstGeom>
          <a:solidFill>
            <a:srgbClr val="EEF2FF"/>
          </a:solidFill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 to relevant spatial regions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1920240"/>
            <a:ext cx="640080" cy="731520"/>
          </a:xfrm>
          <a:prstGeom prst="roundRect">
            <a:avLst>
              <a:gd name="adj" fmla="val 14286"/>
            </a:avLst>
          </a:prstGeom>
          <a:solidFill>
            <a:srgbClr val="00A6A6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1920240"/>
            <a:ext cx="3520440" cy="731520"/>
          </a:xfrm>
          <a:prstGeom prst="roundRect">
            <a:avLst>
              <a:gd name="adj" fmla="val 12500"/>
            </a:avLst>
          </a:prstGeom>
          <a:solidFill>
            <a:srgbClr val="EEF2FF"/>
          </a:solidFill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captions word by word (LSTM)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788920"/>
            <a:ext cx="640080" cy="731520"/>
          </a:xfrm>
          <a:prstGeom prst="roundRect">
            <a:avLst>
              <a:gd name="adj" fmla="val 14286"/>
            </a:avLst>
          </a:prstGeom>
          <a:solidFill>
            <a:srgbClr val="3F51B5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788920"/>
            <a:ext cx="3520440" cy="731520"/>
          </a:xfrm>
          <a:prstGeom prst="roundRect">
            <a:avLst>
              <a:gd name="adj" fmla="val 12500"/>
            </a:avLst>
          </a:prstGeom>
          <a:solidFill>
            <a:srgbClr val="EEF2FF"/>
          </a:solidFill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inference with Beam Search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2788920"/>
            <a:ext cx="640080" cy="731520"/>
          </a:xfrm>
          <a:prstGeom prst="roundRect">
            <a:avLst>
              <a:gd name="adj" fmla="val 14286"/>
            </a:avLst>
          </a:prstGeom>
          <a:solidFill>
            <a:srgbClr val="00A6A6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2788920"/>
            <a:ext cx="3520440" cy="731520"/>
          </a:xfrm>
          <a:prstGeom prst="roundRect">
            <a:avLst>
              <a:gd name="adj" fmla="val 12500"/>
            </a:avLst>
          </a:prstGeom>
          <a:solidFill>
            <a:srgbClr val="EEF2FF"/>
          </a:solidFill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with BLEU scores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977640"/>
            <a:ext cx="1081605" cy="640080"/>
          </a:xfrm>
          <a:prstGeom prst="roundRect">
            <a:avLst>
              <a:gd name="adj" fmla="val 14286"/>
            </a:avLst>
          </a:prstGeom>
          <a:solidFill>
            <a:srgbClr val="3F51B5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547949" y="4297680"/>
            <a:ext cx="91440" cy="0"/>
          </a:xfrm>
          <a:prstGeom prst="line">
            <a:avLst/>
          </a:prstGeom>
          <a:noFill/>
          <a:ln w="25400">
            <a:solidFill>
              <a:srgbClr val="525B78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1648533" y="3977640"/>
            <a:ext cx="1081605" cy="640080"/>
          </a:xfrm>
          <a:prstGeom prst="roundRect">
            <a:avLst>
              <a:gd name="adj" fmla="val 14286"/>
            </a:avLst>
          </a:prstGeom>
          <a:solidFill>
            <a:srgbClr val="00A6A6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39281" y="4297680"/>
            <a:ext cx="91440" cy="0"/>
          </a:xfrm>
          <a:prstGeom prst="line">
            <a:avLst/>
          </a:prstGeom>
          <a:noFill/>
          <a:ln w="25400">
            <a:solidFill>
              <a:srgbClr val="525B78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2839865" y="3977640"/>
            <a:ext cx="1081605" cy="640080"/>
          </a:xfrm>
          <a:prstGeom prst="roundRect">
            <a:avLst>
              <a:gd name="adj" fmla="val 14286"/>
            </a:avLst>
          </a:prstGeom>
          <a:solidFill>
            <a:srgbClr val="3F51B5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VGG16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930614" y="4297680"/>
            <a:ext cx="91440" cy="0"/>
          </a:xfrm>
          <a:prstGeom prst="line">
            <a:avLst/>
          </a:prstGeom>
          <a:noFill/>
          <a:ln w="25400">
            <a:solidFill>
              <a:srgbClr val="525B78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4031198" y="3977640"/>
            <a:ext cx="1081605" cy="640080"/>
          </a:xfrm>
          <a:prstGeom prst="roundRect">
            <a:avLst>
              <a:gd name="adj" fmla="val 14286"/>
            </a:avLst>
          </a:prstGeom>
          <a:solidFill>
            <a:srgbClr val="00A6A6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49×512 features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121946" y="4297680"/>
            <a:ext cx="91440" cy="0"/>
          </a:xfrm>
          <a:prstGeom prst="line">
            <a:avLst/>
          </a:prstGeom>
          <a:noFill/>
          <a:ln w="25400">
            <a:solidFill>
              <a:srgbClr val="525B78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5222530" y="3977640"/>
            <a:ext cx="1081605" cy="640080"/>
          </a:xfrm>
          <a:prstGeom prst="roundRect">
            <a:avLst>
              <a:gd name="adj" fmla="val 14286"/>
            </a:avLst>
          </a:prstGeom>
          <a:solidFill>
            <a:srgbClr val="3F51B5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+ LSTM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13279" y="4297680"/>
            <a:ext cx="91440" cy="0"/>
          </a:xfrm>
          <a:prstGeom prst="line">
            <a:avLst/>
          </a:prstGeom>
          <a:noFill/>
          <a:ln w="25400">
            <a:solidFill>
              <a:srgbClr val="525B78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6413863" y="3977640"/>
            <a:ext cx="1081605" cy="640080"/>
          </a:xfrm>
          <a:prstGeom prst="roundRect">
            <a:avLst>
              <a:gd name="adj" fmla="val 14286"/>
            </a:avLst>
          </a:prstGeom>
          <a:solidFill>
            <a:srgbClr val="00A6A6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504611" y="4297680"/>
            <a:ext cx="91440" cy="0"/>
          </a:xfrm>
          <a:prstGeom prst="line">
            <a:avLst/>
          </a:prstGeom>
          <a:noFill/>
          <a:ln w="25400">
            <a:solidFill>
              <a:srgbClr val="525B78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7605195" y="3977640"/>
            <a:ext cx="1081605" cy="640080"/>
          </a:xfrm>
          <a:prstGeom prst="roundRect">
            <a:avLst>
              <a:gd name="adj" fmla="val 14286"/>
            </a:avLst>
          </a:prstGeom>
          <a:solidFill>
            <a:srgbClr val="3F51B5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Preprocessing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2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926080" cy="2103120"/>
          </a:xfrm>
          <a:prstGeom prst="roundRect">
            <a:avLst>
              <a:gd name="adj" fmla="val 4348"/>
            </a:avLst>
          </a:prstGeom>
          <a:solidFill>
            <a:srgbClr val="EEF2FF"/>
          </a:solidFill>
          <a:ln w="12700">
            <a:solidFill>
              <a:srgbClr val="D5DC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0332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FLICKR8K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80160"/>
            <a:ext cx="274320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 images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human captions per image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captioning benchmark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image + text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154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429000"/>
            <a:ext cx="2194560" cy="457200"/>
          </a:xfrm>
          <a:prstGeom prst="roundRect">
            <a:avLst>
              <a:gd name="adj" fmla="val 20000"/>
            </a:avLst>
          </a:prstGeom>
          <a:solidFill>
            <a:srgbClr val="3F51B5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3429000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00A6A6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3429000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5C6BC0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931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10%  |  Test 10%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960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1234440"/>
            <a:ext cx="1154430" cy="594360"/>
          </a:xfrm>
          <a:prstGeom prst="roundRect">
            <a:avLst>
              <a:gd name="adj" fmla="val 15385"/>
            </a:avLst>
          </a:prstGeom>
          <a:solidFill>
            <a:srgbClr val="3F51B5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image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21174" y="1531620"/>
            <a:ext cx="118872" cy="0"/>
          </a:xfrm>
          <a:prstGeom prst="line">
            <a:avLst/>
          </a:prstGeom>
          <a:noFill/>
          <a:ln w="25400">
            <a:solidFill>
              <a:srgbClr val="525B78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4949190" y="1234440"/>
            <a:ext cx="1154430" cy="594360"/>
          </a:xfrm>
          <a:prstGeom prst="roundRect">
            <a:avLst>
              <a:gd name="adj" fmla="val 15385"/>
            </a:avLst>
          </a:prstGeom>
          <a:solidFill>
            <a:srgbClr val="00A6A6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224×224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12764" y="1531620"/>
            <a:ext cx="118872" cy="0"/>
          </a:xfrm>
          <a:prstGeom prst="line">
            <a:avLst/>
          </a:prstGeom>
          <a:noFill/>
          <a:ln w="25400">
            <a:solidFill>
              <a:srgbClr val="525B78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6240780" y="1234440"/>
            <a:ext cx="1154430" cy="594360"/>
          </a:xfrm>
          <a:prstGeom prst="roundRect">
            <a:avLst>
              <a:gd name="adj" fmla="val 15385"/>
            </a:avLst>
          </a:prstGeom>
          <a:solidFill>
            <a:srgbClr val="3F51B5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04354" y="1531620"/>
            <a:ext cx="118872" cy="0"/>
          </a:xfrm>
          <a:prstGeom prst="line">
            <a:avLst/>
          </a:prstGeom>
          <a:noFill/>
          <a:ln w="25400">
            <a:solidFill>
              <a:srgbClr val="525B78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7532370" y="1234440"/>
            <a:ext cx="1154430" cy="594360"/>
          </a:xfrm>
          <a:prstGeom prst="roundRect">
            <a:avLst>
              <a:gd name="adj" fmla="val 15385"/>
            </a:avLst>
          </a:prstGeom>
          <a:solidFill>
            <a:srgbClr val="00A6A6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VGG16 preprocess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657600" y="2011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657600" y="2286000"/>
            <a:ext cx="932688" cy="594360"/>
          </a:xfrm>
          <a:prstGeom prst="roundRect">
            <a:avLst>
              <a:gd name="adj" fmla="val 15385"/>
            </a:avLst>
          </a:prstGeom>
          <a:solidFill>
            <a:srgbClr val="00A6A6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caption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99432" y="2583180"/>
            <a:ext cx="73152" cy="0"/>
          </a:xfrm>
          <a:prstGeom prst="line">
            <a:avLst/>
          </a:prstGeom>
          <a:noFill/>
          <a:ln w="25400">
            <a:solidFill>
              <a:srgbClr val="525B78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4681728" y="2286000"/>
            <a:ext cx="932688" cy="594360"/>
          </a:xfrm>
          <a:prstGeom prst="roundRect">
            <a:avLst>
              <a:gd name="adj" fmla="val 15385"/>
            </a:avLst>
          </a:prstGeom>
          <a:solidFill>
            <a:srgbClr val="3F51B5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23560" y="2583180"/>
            <a:ext cx="73152" cy="0"/>
          </a:xfrm>
          <a:prstGeom prst="line">
            <a:avLst/>
          </a:prstGeom>
          <a:noFill/>
          <a:ln w="25400">
            <a:solidFill>
              <a:srgbClr val="525B78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5705856" y="2286000"/>
            <a:ext cx="932688" cy="594360"/>
          </a:xfrm>
          <a:prstGeom prst="roundRect">
            <a:avLst>
              <a:gd name="adj" fmla="val 15385"/>
            </a:avLst>
          </a:prstGeom>
          <a:solidFill>
            <a:srgbClr val="00A6A6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startseq / endseq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47688" y="2583180"/>
            <a:ext cx="73152" cy="0"/>
          </a:xfrm>
          <a:prstGeom prst="line">
            <a:avLst/>
          </a:prstGeom>
          <a:noFill/>
          <a:ln w="25400">
            <a:solidFill>
              <a:srgbClr val="525B78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6729984" y="2286000"/>
            <a:ext cx="932688" cy="594360"/>
          </a:xfrm>
          <a:prstGeom prst="roundRect">
            <a:avLst>
              <a:gd name="adj" fmla="val 15385"/>
            </a:avLst>
          </a:prstGeom>
          <a:solidFill>
            <a:srgbClr val="3F51B5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671816" y="2583180"/>
            <a:ext cx="73152" cy="0"/>
          </a:xfrm>
          <a:prstGeom prst="line">
            <a:avLst/>
          </a:prstGeom>
          <a:noFill/>
          <a:ln w="25400">
            <a:solidFill>
              <a:srgbClr val="525B78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7754112" y="2286000"/>
            <a:ext cx="932688" cy="594360"/>
          </a:xfrm>
          <a:prstGeom prst="roundRect">
            <a:avLst>
              <a:gd name="adj" fmla="val 15385"/>
            </a:avLst>
          </a:prstGeom>
          <a:solidFill>
            <a:srgbClr val="00A6A6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0" y="31089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EEF2FF"/>
          </a:solidFill>
          <a:ln w="12700">
            <a:solidFill>
              <a:srgbClr val="D5DCF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794760" y="31821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3794760" y="34747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Original:  </a:t>
            </a:r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dog is running through the grass."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Processed:  </a:t>
            </a:r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"startseq a dog is running through the grass endseq"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Feature Extraction Using VGG16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2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280160" cy="1280160"/>
          </a:xfrm>
          <a:prstGeom prst="roundRect">
            <a:avLst>
              <a:gd name="adj" fmla="val 7143"/>
            </a:avLst>
          </a:prstGeom>
          <a:solidFill>
            <a:srgbClr val="EEF2FF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224×224×3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783080" y="1920240"/>
            <a:ext cx="411480" cy="0"/>
          </a:xfrm>
          <a:prstGeom prst="line">
            <a:avLst/>
          </a:prstGeom>
          <a:noFill/>
          <a:ln w="25400">
            <a:solidFill>
              <a:srgbClr val="525B78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240280" y="1371600"/>
            <a:ext cx="292608" cy="1097280"/>
          </a:xfrm>
          <a:prstGeom prst="rect">
            <a:avLst/>
          </a:prstGeom>
          <a:solidFill>
            <a:srgbClr val="3F51B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24328" y="1481328"/>
            <a:ext cx="292608" cy="877824"/>
          </a:xfrm>
          <a:prstGeom prst="rect">
            <a:avLst/>
          </a:prstGeom>
          <a:solidFill>
            <a:srgbClr val="00A6A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08376" y="1591056"/>
            <a:ext cx="292608" cy="658368"/>
          </a:xfrm>
          <a:prstGeom prst="rect">
            <a:avLst/>
          </a:prstGeom>
          <a:solidFill>
            <a:srgbClr val="3F51B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92424" y="1700784"/>
            <a:ext cx="292608" cy="438912"/>
          </a:xfrm>
          <a:prstGeom prst="rect">
            <a:avLst/>
          </a:prstGeom>
          <a:solidFill>
            <a:srgbClr val="00A6A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76472" y="1810512"/>
            <a:ext cx="292608" cy="219456"/>
          </a:xfrm>
          <a:prstGeom prst="rect">
            <a:avLst/>
          </a:prstGeom>
          <a:solidFill>
            <a:srgbClr val="3F51B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94560" y="2651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VGG16 (ImageNet, no classifier head)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1920240"/>
            <a:ext cx="365760" cy="0"/>
          </a:xfrm>
          <a:prstGeom prst="line">
            <a:avLst/>
          </a:prstGeom>
          <a:noFill/>
          <a:ln w="25400">
            <a:solidFill>
              <a:srgbClr val="525B78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4709160" y="1280160"/>
            <a:ext cx="1188720" cy="1280160"/>
          </a:xfrm>
          <a:prstGeom prst="roundRect">
            <a:avLst>
              <a:gd name="adj" fmla="val 7692"/>
            </a:avLst>
          </a:prstGeom>
          <a:solidFill>
            <a:srgbClr val="3F51B5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7×7×512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0" y="1920240"/>
            <a:ext cx="365760" cy="0"/>
          </a:xfrm>
          <a:prstGeom prst="line">
            <a:avLst/>
          </a:prstGeom>
          <a:noFill/>
          <a:ln w="25400">
            <a:solidFill>
              <a:srgbClr val="525B7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355080" y="1280160"/>
            <a:ext cx="164592" cy="16459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16" name="Shape 14"/>
          <p:cNvSpPr/>
          <p:nvPr/>
        </p:nvSpPr>
        <p:spPr>
          <a:xfrm>
            <a:off x="6537960" y="1280160"/>
            <a:ext cx="164592" cy="16459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17" name="Shape 15"/>
          <p:cNvSpPr/>
          <p:nvPr/>
        </p:nvSpPr>
        <p:spPr>
          <a:xfrm>
            <a:off x="6720840" y="1280160"/>
            <a:ext cx="164592" cy="16459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18" name="Shape 16"/>
          <p:cNvSpPr/>
          <p:nvPr/>
        </p:nvSpPr>
        <p:spPr>
          <a:xfrm>
            <a:off x="6903720" y="1280160"/>
            <a:ext cx="164592" cy="16459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19" name="Shape 17"/>
          <p:cNvSpPr/>
          <p:nvPr/>
        </p:nvSpPr>
        <p:spPr>
          <a:xfrm>
            <a:off x="7086600" y="1280160"/>
            <a:ext cx="164592" cy="16459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20" name="Shape 18"/>
          <p:cNvSpPr/>
          <p:nvPr/>
        </p:nvSpPr>
        <p:spPr>
          <a:xfrm>
            <a:off x="7269480" y="1280160"/>
            <a:ext cx="164592" cy="16459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21" name="Shape 19"/>
          <p:cNvSpPr/>
          <p:nvPr/>
        </p:nvSpPr>
        <p:spPr>
          <a:xfrm>
            <a:off x="7452360" y="1280160"/>
            <a:ext cx="164592" cy="16459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22" name="Shape 20"/>
          <p:cNvSpPr/>
          <p:nvPr/>
        </p:nvSpPr>
        <p:spPr>
          <a:xfrm>
            <a:off x="6355080" y="1463040"/>
            <a:ext cx="164592" cy="16459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23" name="Shape 21"/>
          <p:cNvSpPr/>
          <p:nvPr/>
        </p:nvSpPr>
        <p:spPr>
          <a:xfrm>
            <a:off x="6537960" y="1463040"/>
            <a:ext cx="164592" cy="16459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24" name="Shape 22"/>
          <p:cNvSpPr/>
          <p:nvPr/>
        </p:nvSpPr>
        <p:spPr>
          <a:xfrm>
            <a:off x="6720840" y="1463040"/>
            <a:ext cx="164592" cy="16459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25" name="Shape 23"/>
          <p:cNvSpPr/>
          <p:nvPr/>
        </p:nvSpPr>
        <p:spPr>
          <a:xfrm>
            <a:off x="6903720" y="1463040"/>
            <a:ext cx="164592" cy="16459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26" name="Shape 24"/>
          <p:cNvSpPr/>
          <p:nvPr/>
        </p:nvSpPr>
        <p:spPr>
          <a:xfrm>
            <a:off x="7086600" y="1463040"/>
            <a:ext cx="164592" cy="16459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27" name="Shape 25"/>
          <p:cNvSpPr/>
          <p:nvPr/>
        </p:nvSpPr>
        <p:spPr>
          <a:xfrm>
            <a:off x="7269480" y="1463040"/>
            <a:ext cx="164592" cy="16459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28" name="Shape 26"/>
          <p:cNvSpPr/>
          <p:nvPr/>
        </p:nvSpPr>
        <p:spPr>
          <a:xfrm>
            <a:off x="7452360" y="1463040"/>
            <a:ext cx="164592" cy="16459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29" name="Shape 27"/>
          <p:cNvSpPr/>
          <p:nvPr/>
        </p:nvSpPr>
        <p:spPr>
          <a:xfrm>
            <a:off x="6355080" y="1645920"/>
            <a:ext cx="164592" cy="16459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30" name="Shape 28"/>
          <p:cNvSpPr/>
          <p:nvPr/>
        </p:nvSpPr>
        <p:spPr>
          <a:xfrm>
            <a:off x="6537960" y="1645920"/>
            <a:ext cx="164592" cy="16459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31" name="Shape 29"/>
          <p:cNvSpPr/>
          <p:nvPr/>
        </p:nvSpPr>
        <p:spPr>
          <a:xfrm>
            <a:off x="6720840" y="1645920"/>
            <a:ext cx="164592" cy="16459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32" name="Shape 30"/>
          <p:cNvSpPr/>
          <p:nvPr/>
        </p:nvSpPr>
        <p:spPr>
          <a:xfrm>
            <a:off x="6903720" y="1645920"/>
            <a:ext cx="164592" cy="16459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33" name="Shape 31"/>
          <p:cNvSpPr/>
          <p:nvPr/>
        </p:nvSpPr>
        <p:spPr>
          <a:xfrm>
            <a:off x="7086600" y="1645920"/>
            <a:ext cx="164592" cy="16459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34" name="Shape 32"/>
          <p:cNvSpPr/>
          <p:nvPr/>
        </p:nvSpPr>
        <p:spPr>
          <a:xfrm>
            <a:off x="7269480" y="1645920"/>
            <a:ext cx="164592" cy="16459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35" name="Shape 33"/>
          <p:cNvSpPr/>
          <p:nvPr/>
        </p:nvSpPr>
        <p:spPr>
          <a:xfrm>
            <a:off x="7452360" y="1645920"/>
            <a:ext cx="164592" cy="16459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36" name="Shape 34"/>
          <p:cNvSpPr/>
          <p:nvPr/>
        </p:nvSpPr>
        <p:spPr>
          <a:xfrm>
            <a:off x="6355080" y="1828800"/>
            <a:ext cx="164592" cy="16459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37" name="Shape 35"/>
          <p:cNvSpPr/>
          <p:nvPr/>
        </p:nvSpPr>
        <p:spPr>
          <a:xfrm>
            <a:off x="6537960" y="1828800"/>
            <a:ext cx="164592" cy="16459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38" name="Shape 36"/>
          <p:cNvSpPr/>
          <p:nvPr/>
        </p:nvSpPr>
        <p:spPr>
          <a:xfrm>
            <a:off x="6720840" y="1828800"/>
            <a:ext cx="164592" cy="16459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39" name="Shape 37"/>
          <p:cNvSpPr/>
          <p:nvPr/>
        </p:nvSpPr>
        <p:spPr>
          <a:xfrm>
            <a:off x="6903720" y="1828800"/>
            <a:ext cx="164592" cy="16459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40" name="Shape 38"/>
          <p:cNvSpPr/>
          <p:nvPr/>
        </p:nvSpPr>
        <p:spPr>
          <a:xfrm>
            <a:off x="7086600" y="1828800"/>
            <a:ext cx="164592" cy="16459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41" name="Shape 39"/>
          <p:cNvSpPr/>
          <p:nvPr/>
        </p:nvSpPr>
        <p:spPr>
          <a:xfrm>
            <a:off x="7269480" y="1828800"/>
            <a:ext cx="164592" cy="16459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42" name="Shape 40"/>
          <p:cNvSpPr/>
          <p:nvPr/>
        </p:nvSpPr>
        <p:spPr>
          <a:xfrm>
            <a:off x="7452360" y="1828800"/>
            <a:ext cx="164592" cy="16459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43" name="Shape 41"/>
          <p:cNvSpPr/>
          <p:nvPr/>
        </p:nvSpPr>
        <p:spPr>
          <a:xfrm>
            <a:off x="6355080" y="2011680"/>
            <a:ext cx="164592" cy="16459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44" name="Shape 42"/>
          <p:cNvSpPr/>
          <p:nvPr/>
        </p:nvSpPr>
        <p:spPr>
          <a:xfrm>
            <a:off x="6537960" y="2011680"/>
            <a:ext cx="164592" cy="16459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45" name="Shape 43"/>
          <p:cNvSpPr/>
          <p:nvPr/>
        </p:nvSpPr>
        <p:spPr>
          <a:xfrm>
            <a:off x="6720840" y="2011680"/>
            <a:ext cx="164592" cy="16459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46" name="Shape 44"/>
          <p:cNvSpPr/>
          <p:nvPr/>
        </p:nvSpPr>
        <p:spPr>
          <a:xfrm>
            <a:off x="6903720" y="2011680"/>
            <a:ext cx="164592" cy="16459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47" name="Shape 45"/>
          <p:cNvSpPr/>
          <p:nvPr/>
        </p:nvSpPr>
        <p:spPr>
          <a:xfrm>
            <a:off x="7086600" y="2011680"/>
            <a:ext cx="164592" cy="16459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48" name="Shape 46"/>
          <p:cNvSpPr/>
          <p:nvPr/>
        </p:nvSpPr>
        <p:spPr>
          <a:xfrm>
            <a:off x="7269480" y="2011680"/>
            <a:ext cx="164592" cy="16459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49" name="Shape 47"/>
          <p:cNvSpPr/>
          <p:nvPr/>
        </p:nvSpPr>
        <p:spPr>
          <a:xfrm>
            <a:off x="7452360" y="2011680"/>
            <a:ext cx="164592" cy="16459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50" name="Shape 48"/>
          <p:cNvSpPr/>
          <p:nvPr/>
        </p:nvSpPr>
        <p:spPr>
          <a:xfrm>
            <a:off x="6355080" y="2194560"/>
            <a:ext cx="164592" cy="16459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51" name="Shape 49"/>
          <p:cNvSpPr/>
          <p:nvPr/>
        </p:nvSpPr>
        <p:spPr>
          <a:xfrm>
            <a:off x="6537960" y="2194560"/>
            <a:ext cx="164592" cy="16459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52" name="Shape 50"/>
          <p:cNvSpPr/>
          <p:nvPr/>
        </p:nvSpPr>
        <p:spPr>
          <a:xfrm>
            <a:off x="6720840" y="2194560"/>
            <a:ext cx="164592" cy="16459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53" name="Shape 51"/>
          <p:cNvSpPr/>
          <p:nvPr/>
        </p:nvSpPr>
        <p:spPr>
          <a:xfrm>
            <a:off x="6903720" y="2194560"/>
            <a:ext cx="164592" cy="16459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54" name="Shape 52"/>
          <p:cNvSpPr/>
          <p:nvPr/>
        </p:nvSpPr>
        <p:spPr>
          <a:xfrm>
            <a:off x="7086600" y="2194560"/>
            <a:ext cx="164592" cy="16459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55" name="Shape 53"/>
          <p:cNvSpPr/>
          <p:nvPr/>
        </p:nvSpPr>
        <p:spPr>
          <a:xfrm>
            <a:off x="7269480" y="2194560"/>
            <a:ext cx="164592" cy="16459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56" name="Shape 54"/>
          <p:cNvSpPr/>
          <p:nvPr/>
        </p:nvSpPr>
        <p:spPr>
          <a:xfrm>
            <a:off x="7452360" y="2194560"/>
            <a:ext cx="164592" cy="16459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57" name="Shape 55"/>
          <p:cNvSpPr/>
          <p:nvPr/>
        </p:nvSpPr>
        <p:spPr>
          <a:xfrm>
            <a:off x="6355080" y="2377440"/>
            <a:ext cx="164592" cy="16459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58" name="Shape 56"/>
          <p:cNvSpPr/>
          <p:nvPr/>
        </p:nvSpPr>
        <p:spPr>
          <a:xfrm>
            <a:off x="6537960" y="2377440"/>
            <a:ext cx="164592" cy="16459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59" name="Shape 57"/>
          <p:cNvSpPr/>
          <p:nvPr/>
        </p:nvSpPr>
        <p:spPr>
          <a:xfrm>
            <a:off x="6720840" y="2377440"/>
            <a:ext cx="164592" cy="16459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60" name="Shape 58"/>
          <p:cNvSpPr/>
          <p:nvPr/>
        </p:nvSpPr>
        <p:spPr>
          <a:xfrm>
            <a:off x="6903720" y="2377440"/>
            <a:ext cx="164592" cy="16459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61" name="Shape 59"/>
          <p:cNvSpPr/>
          <p:nvPr/>
        </p:nvSpPr>
        <p:spPr>
          <a:xfrm>
            <a:off x="7086600" y="2377440"/>
            <a:ext cx="164592" cy="16459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62" name="Shape 60"/>
          <p:cNvSpPr/>
          <p:nvPr/>
        </p:nvSpPr>
        <p:spPr>
          <a:xfrm>
            <a:off x="7269480" y="2377440"/>
            <a:ext cx="164592" cy="16459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63" name="Shape 61"/>
          <p:cNvSpPr/>
          <p:nvPr/>
        </p:nvSpPr>
        <p:spPr>
          <a:xfrm>
            <a:off x="7452360" y="2377440"/>
            <a:ext cx="164592" cy="16459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6355080" y="2606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regions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7680960" y="1920240"/>
            <a:ext cx="274320" cy="0"/>
          </a:xfrm>
          <a:prstGeom prst="line">
            <a:avLst/>
          </a:prstGeom>
          <a:noFill/>
          <a:ln w="25400">
            <a:solidFill>
              <a:srgbClr val="525B78"/>
            </a:solidFill>
            <a:prstDash val="solid"/>
            <a:tailEnd type="triangle"/>
          </a:ln>
        </p:spPr>
      </p:sp>
      <p:sp>
        <p:nvSpPr>
          <p:cNvPr id="66" name="Text 64"/>
          <p:cNvSpPr txBox="1"/>
          <p:nvPr/>
        </p:nvSpPr>
        <p:spPr>
          <a:xfrm>
            <a:off x="8001000" y="1280160"/>
            <a:ext cx="777240" cy="1280160"/>
          </a:xfrm>
          <a:prstGeom prst="roundRect">
            <a:avLst>
              <a:gd name="adj" fmla="val 11765"/>
            </a:avLst>
          </a:prstGeom>
          <a:solidFill>
            <a:srgbClr val="14213D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49×512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457200" y="3291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EF2FF"/>
          </a:solidFill>
          <a:ln w="12700">
            <a:solidFill>
              <a:srgbClr val="D5DCF5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594360" y="336499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KEEP SPATIAL FEATURES?</a:t>
            </a:r>
            <a:endParaRPr lang="en-US" sz="1200" dirty="0"/>
          </a:p>
        </p:txBody>
      </p:sp>
      <p:sp>
        <p:nvSpPr>
          <p:cNvPr id="69" name="Text 67"/>
          <p:cNvSpPr txBox="1"/>
          <p:nvPr/>
        </p:nvSpPr>
        <p:spPr>
          <a:xfrm>
            <a:off x="548640" y="3611880"/>
            <a:ext cx="8046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global vector loses "where"; 49 regions keep it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can weight each region differently for every word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× 7 = 49 regions, each a 512-dimensional feature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Bahdanau Attention with LSTM Decoder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2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885950" cy="640080"/>
          </a:xfrm>
          <a:prstGeom prst="roundRect">
            <a:avLst>
              <a:gd name="adj" fmla="val 14286"/>
            </a:avLst>
          </a:prstGeom>
          <a:solidFill>
            <a:srgbClr val="3F51B5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features 49×512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352294" y="1325880"/>
            <a:ext cx="210312" cy="0"/>
          </a:xfrm>
          <a:prstGeom prst="line">
            <a:avLst/>
          </a:prstGeom>
          <a:noFill/>
          <a:ln w="25400">
            <a:solidFill>
              <a:srgbClr val="525B78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2571750" y="1005840"/>
            <a:ext cx="1885950" cy="640080"/>
          </a:xfrm>
          <a:prstGeom prst="roundRect">
            <a:avLst>
              <a:gd name="adj" fmla="val 14286"/>
            </a:avLst>
          </a:prstGeom>
          <a:solidFill>
            <a:srgbClr val="00A6A6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scores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66844" y="1325880"/>
            <a:ext cx="210312" cy="0"/>
          </a:xfrm>
          <a:prstGeom prst="line">
            <a:avLst/>
          </a:prstGeom>
          <a:noFill/>
          <a:ln w="25400">
            <a:solidFill>
              <a:srgbClr val="525B78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4686300" y="1005840"/>
            <a:ext cx="1885950" cy="640080"/>
          </a:xfrm>
          <a:prstGeom prst="roundRect">
            <a:avLst>
              <a:gd name="adj" fmla="val 14286"/>
            </a:avLst>
          </a:prstGeom>
          <a:solidFill>
            <a:srgbClr val="3F51B5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weights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1394" y="1325880"/>
            <a:ext cx="210312" cy="0"/>
          </a:xfrm>
          <a:prstGeom prst="line">
            <a:avLst/>
          </a:prstGeom>
          <a:noFill/>
          <a:ln w="25400">
            <a:solidFill>
              <a:srgbClr val="525B78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6800850" y="1005840"/>
            <a:ext cx="1885950" cy="640080"/>
          </a:xfrm>
          <a:prstGeom prst="roundRect">
            <a:avLst>
              <a:gd name="adj" fmla="val 14286"/>
            </a:avLst>
          </a:prstGeom>
          <a:solidFill>
            <a:srgbClr val="00A6A6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vector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691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hidden state acts as the query for scoring each region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103120"/>
            <a:ext cx="1219200" cy="640080"/>
          </a:xfrm>
          <a:prstGeom prst="roundRect">
            <a:avLst>
              <a:gd name="adj" fmla="val 14286"/>
            </a:avLst>
          </a:prstGeom>
          <a:solidFill>
            <a:srgbClr val="00A6A6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output + Context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685544" y="2423160"/>
            <a:ext cx="164592" cy="0"/>
          </a:xfrm>
          <a:prstGeom prst="line">
            <a:avLst/>
          </a:prstGeom>
          <a:noFill/>
          <a:ln w="25400">
            <a:solidFill>
              <a:srgbClr val="525B78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1859280" y="2103120"/>
            <a:ext cx="1219200" cy="640080"/>
          </a:xfrm>
          <a:prstGeom prst="roundRect">
            <a:avLst>
              <a:gd name="adj" fmla="val 14286"/>
            </a:avLst>
          </a:prstGeom>
          <a:solidFill>
            <a:srgbClr val="3F51B5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87624" y="2423160"/>
            <a:ext cx="164592" cy="0"/>
          </a:xfrm>
          <a:prstGeom prst="line">
            <a:avLst/>
          </a:prstGeom>
          <a:noFill/>
          <a:ln w="25400">
            <a:solidFill>
              <a:srgbClr val="525B78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3261360" y="2103120"/>
            <a:ext cx="1219200" cy="640080"/>
          </a:xfrm>
          <a:prstGeom prst="roundRect">
            <a:avLst>
              <a:gd name="adj" fmla="val 14286"/>
            </a:avLst>
          </a:prstGeom>
          <a:solidFill>
            <a:srgbClr val="00A6A6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+ ReLU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89704" y="2423160"/>
            <a:ext cx="164592" cy="0"/>
          </a:xfrm>
          <a:prstGeom prst="line">
            <a:avLst/>
          </a:prstGeom>
          <a:noFill/>
          <a:ln w="25400">
            <a:solidFill>
              <a:srgbClr val="525B78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4663440" y="2103120"/>
            <a:ext cx="1219200" cy="640080"/>
          </a:xfrm>
          <a:prstGeom prst="roundRect">
            <a:avLst>
              <a:gd name="adj" fmla="val 14286"/>
            </a:avLst>
          </a:prstGeom>
          <a:solidFill>
            <a:srgbClr val="3F51B5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91784" y="2423160"/>
            <a:ext cx="164592" cy="0"/>
          </a:xfrm>
          <a:prstGeom prst="line">
            <a:avLst/>
          </a:prstGeom>
          <a:noFill/>
          <a:ln w="25400">
            <a:solidFill>
              <a:srgbClr val="525B78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6065520" y="2103120"/>
            <a:ext cx="1219200" cy="640080"/>
          </a:xfrm>
          <a:prstGeom prst="roundRect">
            <a:avLst>
              <a:gd name="adj" fmla="val 14286"/>
            </a:avLst>
          </a:prstGeom>
          <a:solidFill>
            <a:srgbClr val="00A6A6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93864" y="2423160"/>
            <a:ext cx="164592" cy="0"/>
          </a:xfrm>
          <a:prstGeom prst="line">
            <a:avLst/>
          </a:prstGeom>
          <a:noFill/>
          <a:ln w="25400">
            <a:solidFill>
              <a:srgbClr val="525B78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7467600" y="2103120"/>
            <a:ext cx="1219200" cy="640080"/>
          </a:xfrm>
          <a:prstGeom prst="roundRect">
            <a:avLst>
              <a:gd name="adj" fmla="val 14286"/>
            </a:avLst>
          </a:prstGeom>
          <a:solidFill>
            <a:srgbClr val="3F51B5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WORD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97180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EEF2FF"/>
          </a:solidFill>
          <a:ln w="12700">
            <a:solidFill>
              <a:srgbClr val="D5DCF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3044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EVERY WORD, THE MODEL ASKS: "WHERE TO LOOK?"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3291840"/>
            <a:ext cx="384048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"dog" → focus on dog region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"grass" → focus on grass region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"running" → focus on relevant regions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63440" y="297180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EEF2FF"/>
          </a:solidFill>
          <a:ln w="12700">
            <a:solidFill>
              <a:srgbClr val="D5DCF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00600" y="3044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754880" y="3291840"/>
            <a:ext cx="384048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→ softmax weights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sum = context vector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with LSTM output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next word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CNN–Attention–LSTM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2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BRANCH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43000"/>
            <a:ext cx="982980" cy="640080"/>
          </a:xfrm>
          <a:prstGeom prst="roundRect">
            <a:avLst>
              <a:gd name="adj" fmla="val 14286"/>
            </a:avLst>
          </a:prstGeom>
          <a:solidFill>
            <a:srgbClr val="3F51B5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image 224×224×3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449324" y="1463040"/>
            <a:ext cx="118872" cy="0"/>
          </a:xfrm>
          <a:prstGeom prst="line">
            <a:avLst/>
          </a:prstGeom>
          <a:noFill/>
          <a:ln w="25400">
            <a:solidFill>
              <a:srgbClr val="525B78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1577340" y="1143000"/>
            <a:ext cx="982980" cy="640080"/>
          </a:xfrm>
          <a:prstGeom prst="roundRect">
            <a:avLst>
              <a:gd name="adj" fmla="val 14286"/>
            </a:avLst>
          </a:prstGeom>
          <a:solidFill>
            <a:srgbClr val="00A6A6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VGG16 encoder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9464" y="1463040"/>
            <a:ext cx="118872" cy="0"/>
          </a:xfrm>
          <a:prstGeom prst="line">
            <a:avLst/>
          </a:prstGeom>
          <a:noFill/>
          <a:ln w="25400">
            <a:solidFill>
              <a:srgbClr val="525B78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2697480" y="1143000"/>
            <a:ext cx="982980" cy="640080"/>
          </a:xfrm>
          <a:prstGeom prst="roundRect">
            <a:avLst>
              <a:gd name="adj" fmla="val 14286"/>
            </a:avLst>
          </a:prstGeom>
          <a:solidFill>
            <a:srgbClr val="3F51B5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7×7×512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89604" y="1463040"/>
            <a:ext cx="118872" cy="0"/>
          </a:xfrm>
          <a:prstGeom prst="line">
            <a:avLst/>
          </a:prstGeom>
          <a:noFill/>
          <a:ln w="25400">
            <a:solidFill>
              <a:srgbClr val="525B78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3817620" y="1143000"/>
            <a:ext cx="982980" cy="640080"/>
          </a:xfrm>
          <a:prstGeom prst="roundRect">
            <a:avLst>
              <a:gd name="adj" fmla="val 14286"/>
            </a:avLst>
          </a:prstGeom>
          <a:solidFill>
            <a:srgbClr val="00A6A6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49×512 features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9744" y="1463040"/>
            <a:ext cx="118872" cy="0"/>
          </a:xfrm>
          <a:prstGeom prst="line">
            <a:avLst/>
          </a:prstGeom>
          <a:noFill/>
          <a:ln w="25400">
            <a:solidFill>
              <a:srgbClr val="525B78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4937760" y="1143000"/>
            <a:ext cx="982980" cy="640080"/>
          </a:xfrm>
          <a:prstGeom prst="roundRect">
            <a:avLst>
              <a:gd name="adj" fmla="val 14286"/>
            </a:avLst>
          </a:prstGeom>
          <a:solidFill>
            <a:srgbClr val="3F51B5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Bahdanau attention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29884" y="1463040"/>
            <a:ext cx="118872" cy="0"/>
          </a:xfrm>
          <a:prstGeom prst="line">
            <a:avLst/>
          </a:prstGeom>
          <a:noFill/>
          <a:ln w="25400">
            <a:solidFill>
              <a:srgbClr val="525B78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6057900" y="1143000"/>
            <a:ext cx="982980" cy="640080"/>
          </a:xfrm>
          <a:prstGeom prst="roundRect">
            <a:avLst>
              <a:gd name="adj" fmla="val 14286"/>
            </a:avLst>
          </a:prstGeom>
          <a:solidFill>
            <a:srgbClr val="00A6A6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vector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1920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BRANCH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2148840"/>
            <a:ext cx="1543050" cy="640080"/>
          </a:xfrm>
          <a:prstGeom prst="roundRect">
            <a:avLst>
              <a:gd name="adj" fmla="val 14286"/>
            </a:avLst>
          </a:prstGeom>
          <a:solidFill>
            <a:srgbClr val="00A6A6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startseq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009394" y="2468880"/>
            <a:ext cx="118872" cy="0"/>
          </a:xfrm>
          <a:prstGeom prst="line">
            <a:avLst/>
          </a:prstGeom>
          <a:noFill/>
          <a:ln w="25400">
            <a:solidFill>
              <a:srgbClr val="525B78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2137410" y="2148840"/>
            <a:ext cx="1543050" cy="640080"/>
          </a:xfrm>
          <a:prstGeom prst="roundRect">
            <a:avLst>
              <a:gd name="adj" fmla="val 14286"/>
            </a:avLst>
          </a:prstGeom>
          <a:solidFill>
            <a:srgbClr val="3F51B5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embedding (256)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89604" y="2468880"/>
            <a:ext cx="118872" cy="0"/>
          </a:xfrm>
          <a:prstGeom prst="line">
            <a:avLst/>
          </a:prstGeom>
          <a:noFill/>
          <a:ln w="25400">
            <a:solidFill>
              <a:srgbClr val="525B78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3817620" y="2148840"/>
            <a:ext cx="1543050" cy="640080"/>
          </a:xfrm>
          <a:prstGeom prst="roundRect">
            <a:avLst>
              <a:gd name="adj" fmla="val 14286"/>
            </a:avLst>
          </a:prstGeom>
          <a:solidFill>
            <a:srgbClr val="00A6A6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(256 units)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69814" y="2468880"/>
            <a:ext cx="118872" cy="0"/>
          </a:xfrm>
          <a:prstGeom prst="line">
            <a:avLst/>
          </a:prstGeom>
          <a:noFill/>
          <a:ln w="25400">
            <a:solidFill>
              <a:srgbClr val="525B78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5497830" y="2148840"/>
            <a:ext cx="1543050" cy="640080"/>
          </a:xfrm>
          <a:prstGeom prst="roundRect">
            <a:avLst>
              <a:gd name="adj" fmla="val 14286"/>
            </a:avLst>
          </a:prstGeom>
          <a:solidFill>
            <a:srgbClr val="3F51B5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output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132320" y="1463040"/>
            <a:ext cx="365760" cy="777240"/>
          </a:xfrm>
          <a:prstGeom prst="line">
            <a:avLst/>
          </a:prstGeom>
          <a:noFill/>
          <a:ln w="25400">
            <a:solidFill>
              <a:srgbClr val="525B7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989320" y="2468880"/>
            <a:ext cx="1508760" cy="0"/>
          </a:xfrm>
          <a:prstGeom prst="line">
            <a:avLst/>
          </a:prstGeom>
          <a:noFill/>
          <a:ln w="25400">
            <a:solidFill>
              <a:srgbClr val="525B7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492240" y="2468880"/>
            <a:ext cx="0" cy="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7498080" y="1143000"/>
            <a:ext cx="1188720" cy="1645920"/>
          </a:xfrm>
          <a:prstGeom prst="roundRect">
            <a:avLst>
              <a:gd name="adj" fmla="val 7692"/>
            </a:avLst>
          </a:prstGeom>
          <a:solidFill>
            <a:srgbClr val="14213D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92440" y="2834640"/>
            <a:ext cx="0" cy="274320"/>
          </a:xfrm>
          <a:prstGeom prst="line">
            <a:avLst/>
          </a:prstGeom>
          <a:noFill/>
          <a:ln w="25400">
            <a:solidFill>
              <a:srgbClr val="525B78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457200" y="3154680"/>
            <a:ext cx="1920240" cy="640080"/>
          </a:xfrm>
          <a:prstGeom prst="roundRect">
            <a:avLst>
              <a:gd name="adj" fmla="val 14286"/>
            </a:avLst>
          </a:prstGeom>
          <a:solidFill>
            <a:srgbClr val="3F51B5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(256, ReLU)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386584" y="3474720"/>
            <a:ext cx="164592" cy="0"/>
          </a:xfrm>
          <a:prstGeom prst="line">
            <a:avLst/>
          </a:prstGeom>
          <a:noFill/>
          <a:ln w="25400">
            <a:solidFill>
              <a:srgbClr val="525B78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2560320" y="3154680"/>
            <a:ext cx="1920240" cy="640080"/>
          </a:xfrm>
          <a:prstGeom prst="roundRect">
            <a:avLst>
              <a:gd name="adj" fmla="val 14286"/>
            </a:avLst>
          </a:prstGeom>
          <a:solidFill>
            <a:srgbClr val="00A6A6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(0.3)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489704" y="3474720"/>
            <a:ext cx="164592" cy="0"/>
          </a:xfrm>
          <a:prstGeom prst="line">
            <a:avLst/>
          </a:prstGeom>
          <a:noFill/>
          <a:ln w="25400">
            <a:solidFill>
              <a:srgbClr val="525B78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4663440" y="3154680"/>
            <a:ext cx="1920240" cy="640080"/>
          </a:xfrm>
          <a:prstGeom prst="roundRect">
            <a:avLst>
              <a:gd name="adj" fmla="val 14286"/>
            </a:avLst>
          </a:prstGeom>
          <a:solidFill>
            <a:srgbClr val="3F51B5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over vocab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592824" y="3474720"/>
            <a:ext cx="164592" cy="0"/>
          </a:xfrm>
          <a:prstGeom prst="line">
            <a:avLst/>
          </a:prstGeom>
          <a:noFill/>
          <a:ln w="25400">
            <a:solidFill>
              <a:srgbClr val="525B78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6766560" y="3154680"/>
            <a:ext cx="1920240" cy="640080"/>
          </a:xfrm>
          <a:prstGeom prst="roundRect">
            <a:avLst>
              <a:gd name="adj" fmla="val 14286"/>
            </a:avLst>
          </a:prstGeom>
          <a:solidFill>
            <a:srgbClr val="00A6A6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WORD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3886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predicted word back in → repeat until endseq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4206240"/>
            <a:ext cx="8229600" cy="411480"/>
          </a:xfrm>
          <a:prstGeom prst="roundRect">
            <a:avLst>
              <a:gd name="adj" fmla="val 22222"/>
            </a:avLst>
          </a:prstGeom>
          <a:solidFill>
            <a:srgbClr val="EEF2FF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Image  →  "A dog is running through the grass."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and Optimization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2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948690" cy="640080"/>
          </a:xfrm>
          <a:prstGeom prst="roundRect">
            <a:avLst>
              <a:gd name="adj" fmla="val 14286"/>
            </a:avLst>
          </a:prstGeom>
          <a:solidFill>
            <a:srgbClr val="3F51B5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415034" y="1325880"/>
            <a:ext cx="73152" cy="0"/>
          </a:xfrm>
          <a:prstGeom prst="line">
            <a:avLst/>
          </a:prstGeom>
          <a:noFill/>
          <a:ln w="25400">
            <a:solidFill>
              <a:srgbClr val="525B78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1497330" y="1005840"/>
            <a:ext cx="948690" cy="640080"/>
          </a:xfrm>
          <a:prstGeom prst="roundRect">
            <a:avLst>
              <a:gd name="adj" fmla="val 14286"/>
            </a:avLst>
          </a:prstGeom>
          <a:solidFill>
            <a:srgbClr val="00A6A6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55164" y="1325880"/>
            <a:ext cx="73152" cy="0"/>
          </a:xfrm>
          <a:prstGeom prst="line">
            <a:avLst/>
          </a:prstGeom>
          <a:noFill/>
          <a:ln w="25400">
            <a:solidFill>
              <a:srgbClr val="525B78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2537460" y="1005840"/>
            <a:ext cx="948690" cy="640080"/>
          </a:xfrm>
          <a:prstGeom prst="roundRect">
            <a:avLst>
              <a:gd name="adj" fmla="val 14286"/>
            </a:avLst>
          </a:prstGeom>
          <a:solidFill>
            <a:srgbClr val="3F51B5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VGG16 features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95294" y="1325880"/>
            <a:ext cx="73152" cy="0"/>
          </a:xfrm>
          <a:prstGeom prst="line">
            <a:avLst/>
          </a:prstGeom>
          <a:noFill/>
          <a:ln w="25400">
            <a:solidFill>
              <a:srgbClr val="525B78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3577590" y="1005840"/>
            <a:ext cx="948690" cy="640080"/>
          </a:xfrm>
          <a:prstGeom prst="roundRect">
            <a:avLst>
              <a:gd name="adj" fmla="val 14286"/>
            </a:avLst>
          </a:prstGeom>
          <a:solidFill>
            <a:srgbClr val="00A6A6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sequences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35424" y="1325880"/>
            <a:ext cx="73152" cy="0"/>
          </a:xfrm>
          <a:prstGeom prst="line">
            <a:avLst/>
          </a:prstGeom>
          <a:noFill/>
          <a:ln w="25400">
            <a:solidFill>
              <a:srgbClr val="525B78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4617720" y="1005840"/>
            <a:ext cx="948690" cy="640080"/>
          </a:xfrm>
          <a:prstGeom prst="roundRect">
            <a:avLst>
              <a:gd name="adj" fmla="val 14286"/>
            </a:avLst>
          </a:prstGeom>
          <a:solidFill>
            <a:srgbClr val="3F51B5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75554" y="1325880"/>
            <a:ext cx="73152" cy="0"/>
          </a:xfrm>
          <a:prstGeom prst="line">
            <a:avLst/>
          </a:prstGeom>
          <a:noFill/>
          <a:ln w="25400">
            <a:solidFill>
              <a:srgbClr val="525B78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5657850" y="1005840"/>
            <a:ext cx="948690" cy="640080"/>
          </a:xfrm>
          <a:prstGeom prst="roundRect">
            <a:avLst>
              <a:gd name="adj" fmla="val 14286"/>
            </a:avLst>
          </a:prstGeom>
          <a:solidFill>
            <a:srgbClr val="00A6A6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15684" y="1325880"/>
            <a:ext cx="73152" cy="0"/>
          </a:xfrm>
          <a:prstGeom prst="line">
            <a:avLst/>
          </a:prstGeom>
          <a:noFill/>
          <a:ln w="25400">
            <a:solidFill>
              <a:srgbClr val="525B78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6697980" y="1005840"/>
            <a:ext cx="948690" cy="640080"/>
          </a:xfrm>
          <a:prstGeom prst="roundRect">
            <a:avLst>
              <a:gd name="adj" fmla="val 14286"/>
            </a:avLst>
          </a:prstGeom>
          <a:solidFill>
            <a:srgbClr val="3F51B5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655814" y="1325880"/>
            <a:ext cx="73152" cy="0"/>
          </a:xfrm>
          <a:prstGeom prst="line">
            <a:avLst/>
          </a:prstGeom>
          <a:noFill/>
          <a:ln w="25400">
            <a:solidFill>
              <a:srgbClr val="525B78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7738110" y="1005840"/>
            <a:ext cx="948690" cy="640080"/>
          </a:xfrm>
          <a:prstGeom prst="roundRect">
            <a:avLst>
              <a:gd name="adj" fmla="val 14286"/>
            </a:avLst>
          </a:prstGeom>
          <a:solidFill>
            <a:srgbClr val="00A6A6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011680"/>
            <a:ext cx="1920240" cy="182880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 w="12700">
            <a:solidFill>
              <a:srgbClr val="D5DC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20848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237744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Adam, LR 0.001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clipnorm = 1.0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Fine-tuned: LR 0.0005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60320" y="2011680"/>
            <a:ext cx="1920240" cy="182880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 w="12700">
            <a:solidFill>
              <a:srgbClr val="D5DC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697480" y="20848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670048" y="237744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= 0.0001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Normalization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2011680"/>
            <a:ext cx="1920240" cy="182880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 w="12700">
            <a:solidFill>
              <a:srgbClr val="D5DCF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00600" y="20848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CONTROL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773168" y="237744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ReduceLROnPlateau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best weights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766560" y="2011680"/>
            <a:ext cx="1920240" cy="182880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 w="12700">
            <a:solidFill>
              <a:srgbClr val="D5DCF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903720" y="20848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876288" y="237744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sparse categorical cross-entropy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 tokens ignored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Environment: Google Colab · NVIDIA T4 GPU · TensorFlow / Keras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Caption Generation Using Beam Search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2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081605" cy="640080"/>
          </a:xfrm>
          <a:prstGeom prst="roundRect">
            <a:avLst>
              <a:gd name="adj" fmla="val 14286"/>
            </a:avLst>
          </a:prstGeom>
          <a:solidFill>
            <a:srgbClr val="3F51B5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startseq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547949" y="1325880"/>
            <a:ext cx="91440" cy="0"/>
          </a:xfrm>
          <a:prstGeom prst="line">
            <a:avLst/>
          </a:prstGeom>
          <a:noFill/>
          <a:ln w="25400">
            <a:solidFill>
              <a:srgbClr val="525B78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1648533" y="1005840"/>
            <a:ext cx="1081605" cy="640080"/>
          </a:xfrm>
          <a:prstGeom prst="roundRect">
            <a:avLst>
              <a:gd name="adj" fmla="val 14286"/>
            </a:avLst>
          </a:prstGeom>
          <a:solidFill>
            <a:srgbClr val="00A6A6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39281" y="1325880"/>
            <a:ext cx="91440" cy="0"/>
          </a:xfrm>
          <a:prstGeom prst="line">
            <a:avLst/>
          </a:prstGeom>
          <a:noFill/>
          <a:ln w="25400">
            <a:solidFill>
              <a:srgbClr val="525B78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2839865" y="1005840"/>
            <a:ext cx="1081605" cy="640080"/>
          </a:xfrm>
          <a:prstGeom prst="roundRect">
            <a:avLst>
              <a:gd name="adj" fmla="val 14286"/>
            </a:avLst>
          </a:prstGeom>
          <a:solidFill>
            <a:srgbClr val="3F51B5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930614" y="1325880"/>
            <a:ext cx="91440" cy="0"/>
          </a:xfrm>
          <a:prstGeom prst="line">
            <a:avLst/>
          </a:prstGeom>
          <a:noFill/>
          <a:ln w="25400">
            <a:solidFill>
              <a:srgbClr val="525B78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4031198" y="1005840"/>
            <a:ext cx="1081605" cy="640080"/>
          </a:xfrm>
          <a:prstGeom prst="roundRect">
            <a:avLst>
              <a:gd name="adj" fmla="val 14286"/>
            </a:avLst>
          </a:prstGeom>
          <a:solidFill>
            <a:srgbClr val="00A6A6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dog 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1946" y="1325880"/>
            <a:ext cx="91440" cy="0"/>
          </a:xfrm>
          <a:prstGeom prst="line">
            <a:avLst/>
          </a:prstGeom>
          <a:noFill/>
          <a:ln w="25400">
            <a:solidFill>
              <a:srgbClr val="525B78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5222530" y="1005840"/>
            <a:ext cx="1081605" cy="640080"/>
          </a:xfrm>
          <a:prstGeom prst="roundRect">
            <a:avLst>
              <a:gd name="adj" fmla="val 14286"/>
            </a:avLst>
          </a:prstGeom>
          <a:solidFill>
            <a:srgbClr val="3F51B5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dog is running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13279" y="1325880"/>
            <a:ext cx="91440" cy="0"/>
          </a:xfrm>
          <a:prstGeom prst="line">
            <a:avLst/>
          </a:prstGeom>
          <a:noFill/>
          <a:ln w="25400">
            <a:solidFill>
              <a:srgbClr val="525B78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6413863" y="1005840"/>
            <a:ext cx="1081605" cy="640080"/>
          </a:xfrm>
          <a:prstGeom prst="roundRect">
            <a:avLst>
              <a:gd name="adj" fmla="val 14286"/>
            </a:avLst>
          </a:prstGeom>
          <a:solidFill>
            <a:srgbClr val="00A6A6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in the grass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504611" y="1325880"/>
            <a:ext cx="91440" cy="0"/>
          </a:xfrm>
          <a:prstGeom prst="line">
            <a:avLst/>
          </a:prstGeom>
          <a:noFill/>
          <a:ln w="25400">
            <a:solidFill>
              <a:srgbClr val="525B78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7605195" y="1005840"/>
            <a:ext cx="1081605" cy="640080"/>
          </a:xfrm>
          <a:prstGeom prst="roundRect">
            <a:avLst>
              <a:gd name="adj" fmla="val 14286"/>
            </a:avLst>
          </a:prstGeom>
          <a:solidFill>
            <a:srgbClr val="3F51B5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endseq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1691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step-by-step decoding; generation stops at endseq or maximum length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10312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EEF2FF"/>
          </a:solidFill>
          <a:ln w="12700">
            <a:solidFill>
              <a:srgbClr val="D5DC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21762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SEARCH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2423160"/>
            <a:ext cx="384048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one best word per step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mistakes cannot be undone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63440" y="210312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EEF2FF"/>
          </a:solidFill>
          <a:ln w="12700">
            <a:solidFill>
              <a:srgbClr val="D5DCF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00600" y="21762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 SEARCH (WIDTH = 5)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754880" y="2423160"/>
            <a:ext cx="384048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5 candidate sequences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them, picks best overall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70332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EEF2FF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project, Beam Search gave somewhat better qualitative captions than initial greedy decoding. It does not guarantee better results.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Performance Analysis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25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47548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931920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3F51B5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BLEU-1  0.6265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645920" y="3931920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00A6A6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BLEU-2  0.3826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834640" y="3931920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3F51B5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BLEU-3  0.2338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023360" y="3931920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00A6A6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BLEU-4  0.1675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349240" y="960120"/>
            <a:ext cx="3337560" cy="3429000"/>
          </a:xfrm>
          <a:prstGeom prst="roundRect">
            <a:avLst>
              <a:gd name="adj" fmla="val 2740"/>
            </a:avLst>
          </a:prstGeom>
          <a:solidFill>
            <a:srgbClr val="EEF2FF"/>
          </a:solidFill>
          <a:ln w="12700">
            <a:solidFill>
              <a:srgbClr val="D5DCF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0" y="103327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40680" y="1280160"/>
            <a:ext cx="315468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 is a caption-overlap metric, not classification accuracy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BLEU-1: reasonable word overlap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Higher-order scores drop: exact phrase matching is harder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evaluation (10 images, Beam Search), not an overall benchmark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4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749040" cy="3200400"/>
          </a:xfrm>
          <a:prstGeom prst="roundRect">
            <a:avLst>
              <a:gd name="adj" fmla="val 2857"/>
            </a:avLst>
          </a:prstGeom>
          <a:solidFill>
            <a:srgbClr val="EEF2FF"/>
          </a:solidFill>
          <a:ln w="12700">
            <a:solidFill>
              <a:srgbClr val="D5DC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0332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80160"/>
            <a:ext cx="356616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Captions generated with deep learning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VGG16 gives spatial features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focuses decoder on regions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generates word by word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 Search considers multiple candidates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BLEU overlap on unseen images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960120"/>
            <a:ext cx="457200" cy="685800"/>
          </a:xfrm>
          <a:prstGeom prst="roundRect">
            <a:avLst>
              <a:gd name="adj" fmla="val 20000"/>
            </a:avLst>
          </a:prstGeom>
          <a:solidFill>
            <a:srgbClr val="3F51B5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956048" y="960120"/>
            <a:ext cx="1600200" cy="685800"/>
          </a:xfrm>
          <a:prstGeom prst="roundRect">
            <a:avLst>
              <a:gd name="adj" fmla="val 13333"/>
            </a:avLst>
          </a:prstGeom>
          <a:solidFill>
            <a:srgbClr val="22356B"/>
          </a:solidFill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Larger, diverse datasets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960120"/>
            <a:ext cx="457200" cy="685800"/>
          </a:xfrm>
          <a:prstGeom prst="roundRect">
            <a:avLst>
              <a:gd name="adj" fmla="val 20000"/>
            </a:avLst>
          </a:prstGeom>
          <a:solidFill>
            <a:srgbClr val="00A6A6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04888" y="960120"/>
            <a:ext cx="1600200" cy="685800"/>
          </a:xfrm>
          <a:prstGeom prst="roundRect">
            <a:avLst>
              <a:gd name="adj" fmla="val 13333"/>
            </a:avLst>
          </a:prstGeom>
          <a:solidFill>
            <a:srgbClr val="22356B"/>
          </a:solidFill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captioning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1764792"/>
            <a:ext cx="457200" cy="685800"/>
          </a:xfrm>
          <a:prstGeom prst="roundRect">
            <a:avLst>
              <a:gd name="adj" fmla="val 20000"/>
            </a:avLst>
          </a:prstGeom>
          <a:solidFill>
            <a:srgbClr val="3F51B5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956048" y="1764792"/>
            <a:ext cx="1600200" cy="685800"/>
          </a:xfrm>
          <a:prstGeom prst="roundRect">
            <a:avLst>
              <a:gd name="adj" fmla="val 13333"/>
            </a:avLst>
          </a:prstGeom>
          <a:solidFill>
            <a:srgbClr val="22356B"/>
          </a:solidFill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/ CLIP encoders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1764792"/>
            <a:ext cx="457200" cy="685800"/>
          </a:xfrm>
          <a:prstGeom prst="roundRect">
            <a:avLst>
              <a:gd name="adj" fmla="val 20000"/>
            </a:avLst>
          </a:prstGeom>
          <a:solidFill>
            <a:srgbClr val="00A6A6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04888" y="1764792"/>
            <a:ext cx="1600200" cy="685800"/>
          </a:xfrm>
          <a:prstGeom prst="roundRect">
            <a:avLst>
              <a:gd name="adj" fmla="val 13333"/>
            </a:avLst>
          </a:prstGeom>
          <a:solidFill>
            <a:srgbClr val="22356B"/>
          </a:solidFill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attention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2569464"/>
            <a:ext cx="457200" cy="685800"/>
          </a:xfrm>
          <a:prstGeom prst="roundRect">
            <a:avLst>
              <a:gd name="adj" fmla="val 20000"/>
            </a:avLst>
          </a:prstGeom>
          <a:solidFill>
            <a:srgbClr val="3F51B5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956048" y="2569464"/>
            <a:ext cx="1600200" cy="685800"/>
          </a:xfrm>
          <a:prstGeom prst="roundRect">
            <a:avLst>
              <a:gd name="adj" fmla="val 13333"/>
            </a:avLst>
          </a:prstGeom>
          <a:solidFill>
            <a:srgbClr val="22356B"/>
          </a:solidFill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captions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2569464"/>
            <a:ext cx="457200" cy="685800"/>
          </a:xfrm>
          <a:prstGeom prst="roundRect">
            <a:avLst>
              <a:gd name="adj" fmla="val 20000"/>
            </a:avLst>
          </a:prstGeom>
          <a:solidFill>
            <a:srgbClr val="00A6A6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104888" y="2569464"/>
            <a:ext cx="1600200" cy="685800"/>
          </a:xfrm>
          <a:prstGeom prst="roundRect">
            <a:avLst>
              <a:gd name="adj" fmla="val 13333"/>
            </a:avLst>
          </a:prstGeom>
          <a:solidFill>
            <a:srgbClr val="22356B"/>
          </a:solidFill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captioning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3374136"/>
            <a:ext cx="457200" cy="685800"/>
          </a:xfrm>
          <a:prstGeom prst="roundRect">
            <a:avLst>
              <a:gd name="adj" fmla="val 20000"/>
            </a:avLst>
          </a:prstGeom>
          <a:solidFill>
            <a:srgbClr val="3F51B5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956048" y="3374136"/>
            <a:ext cx="1600200" cy="685800"/>
          </a:xfrm>
          <a:prstGeom prst="roundRect">
            <a:avLst>
              <a:gd name="adj" fmla="val 13333"/>
            </a:avLst>
          </a:prstGeom>
          <a:solidFill>
            <a:srgbClr val="22356B"/>
          </a:solidFill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/ web deployment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629400" y="3374136"/>
            <a:ext cx="457200" cy="685800"/>
          </a:xfrm>
          <a:prstGeom prst="roundRect">
            <a:avLst>
              <a:gd name="adj" fmla="val 20000"/>
            </a:avLst>
          </a:prstGeom>
          <a:solidFill>
            <a:srgbClr val="00A6A6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104888" y="3374136"/>
            <a:ext cx="1600200" cy="685800"/>
          </a:xfrm>
          <a:prstGeom prst="roundRect">
            <a:avLst>
              <a:gd name="adj" fmla="val 13333"/>
            </a:avLst>
          </a:prstGeom>
          <a:solidFill>
            <a:srgbClr val="22356B"/>
          </a:solidFill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metrics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FE3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Automatic Image Caption Generator Using CNN-LSTM with Attention</dc:title>
  <dc:subject>PptxGenJS Presentation</dc:subject>
  <dc:creator>PptxGenJS</dc:creator>
  <cp:lastModifiedBy>PptxGenJS</cp:lastModifiedBy>
  <cp:revision>1</cp:revision>
  <dcterms:created xsi:type="dcterms:W3CDTF">2026-10-04T11:14:03Z</dcterms:created>
  <dcterms:modified xsi:type="dcterms:W3CDTF">2026-10-04T11:14:03Z</dcterms:modified>
</cp:coreProperties>
</file>